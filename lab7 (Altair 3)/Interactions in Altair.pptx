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9bec88ca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9bec88ca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9bec88ca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9bec88ca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9bec88ca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9bec88ca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0870a20f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0870a20f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0870a20f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0870a20f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9cd7d3c2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9cd7d3c2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e32a1795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e32a1795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ltair-viz.github.io/user_guide/interactions/index.html" TargetMode="External"/><Relationship Id="rId4" Type="http://schemas.openxmlformats.org/officeDocument/2006/relationships/hyperlink" Target="https://altair-viz.github.io/user_guide/interactions/index.html" TargetMode="External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olab.research.google.com/drive/1JmbSOKOzNr7yHgDFmB9S2ON1J6aa-Lxm?usp=shar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olab.research.google.com/drive/19B9MMThgw27JkMHNI5amT24xpju1zcOx?usp=sharing" TargetMode="External"/><Relationship Id="rId4" Type="http://schemas.openxmlformats.org/officeDocument/2006/relationships/hyperlink" Target="https://www.kaggle.com/datasets/albertovidalrod/gapminder-dataset?resource=download" TargetMode="Externa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57350" y="1252300"/>
            <a:ext cx="8520600" cy="97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</a:rPr>
              <a:t>Interactions in Altair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57350" y="22612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</a:rPr>
              <a:t>SI 649 / EECS 548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87950" y="3090800"/>
            <a:ext cx="8459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Yelnaz Rysbek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Adapted from Vega-Altair Documentation and Dallas Card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</a:rPr>
              <a:t>Plan for today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Part 1: Demo of Altair Interactions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Bonus: Exporting Interactive Charts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Part 2: 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Recreate Gapminder and create your own visualization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Part 3: 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Sharing progress with peers and discussion of assignment part 2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</a:rPr>
              <a:t>RE: When to use Altair specific transformations?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Building compound charts with shared data sources but different views of data (example in the next slide)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Creating interactive visualizations where transformations respond to user selections (we will look at an example in the next workshop).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eriod"/>
            </a:pPr>
            <a:r>
              <a:rPr lang="en" sz="1800">
                <a:solidFill>
                  <a:schemeClr val="dk1"/>
                </a:solidFill>
              </a:rPr>
              <a:t>We will see examples of transform_filter(), transform_aggregate() and transform_calculate() in our interactive charts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</a:rPr>
              <a:t>Interactions in  Altair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 interaction techniques in </a:t>
            </a:r>
            <a:r>
              <a:rPr lang="en" u="sng">
                <a:solidFill>
                  <a:schemeClr val="hlink"/>
                </a:solidFill>
                <a:hlinkClick r:id="rId3"/>
              </a:rPr>
              <a:t>documentation</a:t>
            </a:r>
            <a:r>
              <a:rPr lang="en"/>
              <a:t> and </a:t>
            </a:r>
            <a:r>
              <a:rPr lang="en" u="sng">
                <a:solidFill>
                  <a:schemeClr val="hlink"/>
                </a:solidFill>
                <a:hlinkClick r:id="rId4"/>
              </a:rPr>
              <a:t>interactive charts gallery</a:t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4760450" y="521975"/>
            <a:ext cx="419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6" name="Google Shape;76;p16" title="Screenshot 2026-02-24 at 10.14.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3550" y="390975"/>
            <a:ext cx="2649000" cy="409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</a:rPr>
              <a:t>General pattern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563475" y="2142600"/>
            <a:ext cx="1472100" cy="858300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Selector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2745125" y="2142600"/>
            <a:ext cx="1472100" cy="858300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Condition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926775" y="2142600"/>
            <a:ext cx="1472100" cy="858300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Add to Chart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7108425" y="2142600"/>
            <a:ext cx="1472100" cy="858300"/>
          </a:xfrm>
          <a:prstGeom prst="rect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Encode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86" name="Google Shape;86;p17"/>
          <p:cNvCxnSpPr>
            <a:stCxn id="82" idx="3"/>
            <a:endCxn id="83" idx="1"/>
          </p:cNvCxnSpPr>
          <p:nvPr/>
        </p:nvCxnSpPr>
        <p:spPr>
          <a:xfrm>
            <a:off x="2035575" y="2571750"/>
            <a:ext cx="709500" cy="0"/>
          </a:xfrm>
          <a:prstGeom prst="straightConnector1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7"/>
          <p:cNvCxnSpPr>
            <a:stCxn id="83" idx="3"/>
            <a:endCxn id="84" idx="1"/>
          </p:cNvCxnSpPr>
          <p:nvPr/>
        </p:nvCxnSpPr>
        <p:spPr>
          <a:xfrm>
            <a:off x="4217225" y="2571750"/>
            <a:ext cx="709500" cy="0"/>
          </a:xfrm>
          <a:prstGeom prst="straightConnector1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7"/>
          <p:cNvCxnSpPr>
            <a:stCxn id="84" idx="3"/>
            <a:endCxn id="85" idx="1"/>
          </p:cNvCxnSpPr>
          <p:nvPr/>
        </p:nvCxnSpPr>
        <p:spPr>
          <a:xfrm>
            <a:off x="6398875" y="2571750"/>
            <a:ext cx="709500" cy="0"/>
          </a:xfrm>
          <a:prstGeom prst="straightConnector1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</a:rPr>
              <a:t>Pattern explained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Selector</a:t>
            </a:r>
            <a:r>
              <a:rPr lang="en" sz="1500">
                <a:solidFill>
                  <a:schemeClr val="dk1"/>
                </a:solidFill>
              </a:rPr>
              <a:t> – Define what the user can interact with, two types: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alt.selection_point() / alt.selection_interval() – responds to direct interaction with the chart (drag, click)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alt.param() – holds a value bound to an external UI control (slider, dropdown)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Condition</a:t>
            </a:r>
            <a:r>
              <a:rPr lang="en" sz="1500">
                <a:solidFill>
                  <a:schemeClr val="dk1"/>
                </a:solidFill>
              </a:rPr>
              <a:t> – Define what happens based on the parameter's value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alt.when(selection).then(if_true).otherwise(if_false)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e.g., highlight selected points, grey out the rest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add_params()</a:t>
            </a:r>
            <a:r>
              <a:rPr lang="en" sz="1500">
                <a:solidFill>
                  <a:schemeClr val="dk1"/>
                </a:solidFill>
              </a:rPr>
              <a:t> – Register the parameter with the chart so it actively listens for user input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Without this, the parameter exists but has no effect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The same parameter can be added to multiple layers for linked interactions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Encode</a:t>
            </a:r>
            <a:r>
              <a:rPr lang="en" sz="1500">
                <a:solidFill>
                  <a:schemeClr val="dk1"/>
                </a:solidFill>
              </a:rPr>
              <a:t> – Apply the condition inside .encode() to map it to a visual channel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2777700" y="2193900"/>
            <a:ext cx="3588600" cy="75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Altair demonstration</a:t>
            </a:r>
            <a:endParaRPr>
              <a:solidFill>
                <a:srgbClr val="F1C23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24475"/>
            <a:ext cx="2808000" cy="58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</a:rPr>
              <a:t>Lab 7 Assignment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92925"/>
            <a:ext cx="40431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Make a copy of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this notebook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Take a look at the version </a:t>
            </a:r>
            <a:r>
              <a:rPr lang="en" sz="1400" u="sng">
                <a:solidFill>
                  <a:schemeClr val="hlink"/>
                </a:solidFill>
                <a:hlinkClick r:id="rId4"/>
              </a:rPr>
              <a:t>Gapminder dataset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Using Altair, recreate the Gapminder 2015 snapshot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Create an animated version of the visualization that shows how the data changes across years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Come up with a new visualization using the same data that provides additional insight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Combine visualizations in one single .html file and submit to Canvas along </a:t>
            </a:r>
            <a:r>
              <a:rPr lang="en" sz="1400">
                <a:solidFill>
                  <a:schemeClr val="dk1"/>
                </a:solidFill>
              </a:rPr>
              <a:t>with</a:t>
            </a:r>
            <a:r>
              <a:rPr lang="en" sz="1400">
                <a:solidFill>
                  <a:schemeClr val="dk1"/>
                </a:solidFill>
              </a:rPr>
              <a:t> runnable Python notebook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106" name="Google Shape;106;p20" title="char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415075"/>
            <a:ext cx="4279200" cy="266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